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Inter" panose="020B0604020202020204" charset="0"/>
      <p:regular r:id="rId16"/>
      <p:bold r:id="rId17"/>
      <p:italic r:id="rId18"/>
      <p:boldItalic r:id="rId19"/>
    </p:embeddedFont>
    <p:embeddedFont>
      <p:font typeface="Space Grotesk" panose="020B0604020202020204" charset="0"/>
      <p:regular r:id="rId20"/>
      <p:bold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D617195-D155-41FC-BE05-7277FFED25D5}">
  <a:tblStyle styleId="{CD617195-D155-41FC-BE05-7277FFED25D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762000" y="4536727"/>
            <a:ext cx="1066800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762000" y="4536727"/>
            <a:ext cx="10668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168309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762000" y="2140297"/>
            <a:ext cx="9301162" cy="1139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Cybersecurity Incident Management &amp; Risk Analysis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62000" y="3508027"/>
            <a:ext cx="69532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Enterprise risk profiling, authentication telemetry, and incident response prioritization using MySQL database analytics.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104900" y="1697384"/>
            <a:ext cx="355401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SQL SECURITY ANALYTICS REPORT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762000" y="4774852"/>
            <a:ext cx="1690687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PREPARED BY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762000" y="4974877"/>
            <a:ext cx="169068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Priyanka Kumari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2495550" y="4774852"/>
            <a:ext cx="31908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PROGRAM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2495550" y="4974877"/>
            <a:ext cx="31908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Master Cert. Data Science &amp; AI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5429250" y="4774852"/>
            <a:ext cx="1607343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TECHNOLOGY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5429250" y="4974877"/>
            <a:ext cx="1607343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MySQL RDBMS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/>
          <p:nvPr/>
        </p:nvSpPr>
        <p:spPr>
          <a:xfrm>
            <a:off x="9515475" y="809625"/>
            <a:ext cx="2066925" cy="314325"/>
          </a:xfrm>
          <a:prstGeom prst="roundRect">
            <a:avLst>
              <a:gd name="adj" fmla="val 24242"/>
            </a:avLst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609600" y="2922389"/>
            <a:ext cx="3505200" cy="2022871"/>
          </a:xfrm>
          <a:prstGeom prst="roundRect">
            <a:avLst>
              <a:gd name="adj" fmla="val 5650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4343400" y="2922389"/>
            <a:ext cx="3505200" cy="2022871"/>
          </a:xfrm>
          <a:prstGeom prst="roundRect">
            <a:avLst>
              <a:gd name="adj" fmla="val 5650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8077200" y="2922389"/>
            <a:ext cx="3505200" cy="2022871"/>
          </a:xfrm>
          <a:prstGeom prst="roundRect">
            <a:avLst>
              <a:gd name="adj" fmla="val 5650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609600" y="2922389"/>
            <a:ext cx="38100" cy="2022871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4343400" y="2922389"/>
            <a:ext cx="38100" cy="2022871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8077200" y="2922389"/>
            <a:ext cx="38100" cy="2022871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67875" y="890587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3227189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86300" y="3227189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20100" y="3227189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47750" y="3322439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81550" y="3322439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01062" y="3322439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4"/>
          <p:cNvSpPr txBox="1"/>
          <p:nvPr/>
        </p:nvSpPr>
        <p:spPr>
          <a:xfrm>
            <a:off x="609600" y="457200"/>
            <a:ext cx="675084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EXECUTIVE SUMMARY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609600" y="704850"/>
            <a:ext cx="7088385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Project Scope &amp; Core Objectives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9877425" y="885825"/>
            <a:ext cx="1940718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MySQL Analysis Engine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952500" y="3798689"/>
            <a:ext cx="3750468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500 Incidents Evaluated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952500" y="4160639"/>
            <a:ext cx="2952750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Multi-organization threat classification by severity levels.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4686300" y="3798689"/>
            <a:ext cx="3750468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6,000 Login Logs Analyzed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4686300" y="4160639"/>
            <a:ext cx="2952750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Authentication friction and failed access attempts tracked.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8420100" y="3798689"/>
            <a:ext cx="3750468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7 Relational Tables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8420100" y="4160639"/>
            <a:ext cx="2952750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Unified database schema using CTEs and window functions.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5"/>
          <p:cNvSpPr/>
          <p:nvPr/>
        </p:nvSpPr>
        <p:spPr>
          <a:xfrm>
            <a:off x="609600" y="2319337"/>
            <a:ext cx="10972800" cy="923925"/>
          </a:xfrm>
          <a:prstGeom prst="roundRect">
            <a:avLst>
              <a:gd name="adj" fmla="val 12371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609600" y="3471862"/>
            <a:ext cx="10972800" cy="923925"/>
          </a:xfrm>
          <a:prstGeom prst="roundRect">
            <a:avLst>
              <a:gd name="adj" fmla="val 12371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609600" y="4624387"/>
            <a:ext cx="10972800" cy="923925"/>
          </a:xfrm>
          <a:prstGeom prst="roundRect">
            <a:avLst>
              <a:gd name="adj" fmla="val 12371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838200" y="2566987"/>
            <a:ext cx="1009650" cy="428625"/>
          </a:xfrm>
          <a:prstGeom prst="roundRect">
            <a:avLst>
              <a:gd name="adj" fmla="val 17777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838200" y="3719512"/>
            <a:ext cx="1038225" cy="428625"/>
          </a:xfrm>
          <a:prstGeom prst="roundRect">
            <a:avLst>
              <a:gd name="adj" fmla="val 17777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838200" y="4872037"/>
            <a:ext cx="1047750" cy="428625"/>
          </a:xfrm>
          <a:prstGeom prst="roundRect">
            <a:avLst>
              <a:gd name="adj" fmla="val 17777"/>
            </a:avLst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5619750" y="2814637"/>
            <a:ext cx="1577578" cy="219075"/>
          </a:xfrm>
          <a:prstGeom prst="roundRect">
            <a:avLst>
              <a:gd name="adj" fmla="val 17391"/>
            </a:avLst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DATABASE SETUP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609600" y="704850"/>
            <a:ext cx="115824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Relational Schema &amp; Data Pipeline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1028700" y="2681287"/>
            <a:ext cx="7239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Phase 1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1028700" y="3833812"/>
            <a:ext cx="7524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Phase 2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1028700" y="4986337"/>
            <a:ext cx="7620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Phase 3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2038350" y="2547937"/>
            <a:ext cx="101536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Schema Standardization &amp; FK Setup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2038350" y="2814637"/>
            <a:ext cx="101536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DATE formatting, composite primary key on , and foreign key constraints.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2066925" y="3700462"/>
            <a:ext cx="101250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Data Validation &amp; Integrity Checks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2066925" y="3967162"/>
            <a:ext cx="101250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Orphan record detection and duplicate validation across 7 core relational tables.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2076450" y="4852987"/>
            <a:ext cx="101155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SQL Analytics &amp; Query Execution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2076450" y="5119687"/>
            <a:ext cx="101155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Grouping, joins, CTEs, CASE statements, and window functions for risk isolation.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5676900" y="2833687"/>
            <a:ext cx="1857672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incident_systems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"/>
          <p:cNvSpPr/>
          <p:nvPr/>
        </p:nvSpPr>
        <p:spPr>
          <a:xfrm>
            <a:off x="6968430" y="2933700"/>
            <a:ext cx="4613969" cy="1962150"/>
          </a:xfrm>
          <a:prstGeom prst="roundRect">
            <a:avLst>
              <a:gd name="adj" fmla="val 7766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609600" y="2895600"/>
            <a:ext cx="5977830" cy="2286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609600" y="3590925"/>
            <a:ext cx="5977830" cy="2286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609600" y="4286250"/>
            <a:ext cx="5977830" cy="2286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609600" y="4981575"/>
            <a:ext cx="5977830" cy="2286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609600" y="2895600"/>
            <a:ext cx="1673721" cy="2286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609600" y="3590925"/>
            <a:ext cx="1554212" cy="228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609600" y="4286250"/>
            <a:ext cx="1434554" cy="22860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609600" y="4981575"/>
            <a:ext cx="1315045" cy="2286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" name="Google Shape;15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82755" y="324802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THREAT LEVEL DISTRIBUTION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609600" y="704850"/>
            <a:ext cx="115824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Incident Breakdown by Severity Level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7282755" y="3705225"/>
            <a:ext cx="4909244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Critical Priority Signal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7282755" y="4067175"/>
            <a:ext cx="4080569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Critical incidents form the largest severity category, demanding prioritized SOC response.</a:t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609600" y="2619375"/>
            <a:ext cx="8858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Critical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4901505" y="2619375"/>
            <a:ext cx="210740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140 Incidents (28%)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609600" y="3314700"/>
            <a:ext cx="6286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Low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4911030" y="3314700"/>
            <a:ext cx="2095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129 Incidents (26%)</a:t>
            </a:r>
            <a:endParaRPr/>
          </a:p>
        </p:txBody>
      </p:sp>
      <p:sp>
        <p:nvSpPr>
          <p:cNvPr id="168" name="Google Shape;168;p16"/>
          <p:cNvSpPr txBox="1"/>
          <p:nvPr/>
        </p:nvSpPr>
        <p:spPr>
          <a:xfrm>
            <a:off x="609600" y="4010025"/>
            <a:ext cx="6667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A580C"/>
                </a:solidFill>
                <a:latin typeface="Inter"/>
                <a:ea typeface="Inter"/>
                <a:cs typeface="Inter"/>
                <a:sym typeface="Inter"/>
              </a:rPr>
              <a:t>High</a:t>
            </a:r>
            <a:endParaRPr/>
          </a:p>
        </p:txBody>
      </p:sp>
      <p:sp>
        <p:nvSpPr>
          <p:cNvPr id="169" name="Google Shape;169;p16"/>
          <p:cNvSpPr txBox="1"/>
          <p:nvPr/>
        </p:nvSpPr>
        <p:spPr>
          <a:xfrm>
            <a:off x="4911030" y="4010025"/>
            <a:ext cx="2095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120 Incidents (24%)</a:t>
            </a:r>
            <a:endParaRPr/>
          </a:p>
        </p:txBody>
      </p:sp>
      <p:sp>
        <p:nvSpPr>
          <p:cNvPr id="170" name="Google Shape;170;p16"/>
          <p:cNvSpPr txBox="1"/>
          <p:nvPr/>
        </p:nvSpPr>
        <p:spPr>
          <a:xfrm>
            <a:off x="609600" y="4705350"/>
            <a:ext cx="9620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Medium</a:t>
            </a:r>
            <a:endParaRPr/>
          </a:p>
        </p:txBody>
      </p:sp>
      <p:sp>
        <p:nvSpPr>
          <p:cNvPr id="171" name="Google Shape;171;p16"/>
          <p:cNvSpPr txBox="1"/>
          <p:nvPr/>
        </p:nvSpPr>
        <p:spPr>
          <a:xfrm>
            <a:off x="4987230" y="4705350"/>
            <a:ext cx="20002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111 Incidents (22%)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7"/>
          <p:cNvSpPr/>
          <p:nvPr/>
        </p:nvSpPr>
        <p:spPr>
          <a:xfrm>
            <a:off x="609600" y="2833687"/>
            <a:ext cx="5334000" cy="2162175"/>
          </a:xfrm>
          <a:prstGeom prst="roundRect">
            <a:avLst>
              <a:gd name="adj" fmla="val 7048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6248400" y="2833687"/>
            <a:ext cx="5334000" cy="2162175"/>
          </a:xfrm>
          <a:prstGeom prst="roundRect">
            <a:avLst>
              <a:gd name="adj" fmla="val 7048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TEMPORAL TRAJECTORY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609600" y="704850"/>
            <a:ext cx="115824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Year-over-Year Incident Volume Shift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431006" y="3224212"/>
            <a:ext cx="5691187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2023 INCIDENTS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431006" y="3490912"/>
            <a:ext cx="5691187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374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431006" y="4405312"/>
            <a:ext cx="569118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74.8% of Total Dataset</a:t>
            </a:r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6069806" y="3224212"/>
            <a:ext cx="5691187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2024 INCIDENTS</a:t>
            </a:r>
            <a:endParaRPr/>
          </a:p>
        </p:txBody>
      </p:sp>
      <p:sp>
        <p:nvSpPr>
          <p:cNvPr id="184" name="Google Shape;184;p17"/>
          <p:cNvSpPr txBox="1"/>
          <p:nvPr/>
        </p:nvSpPr>
        <p:spPr>
          <a:xfrm>
            <a:off x="6069806" y="3490912"/>
            <a:ext cx="5691187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59669"/>
                </a:solidFill>
                <a:latin typeface="Space Grotesk"/>
                <a:ea typeface="Space Grotesk"/>
                <a:cs typeface="Space Grotesk"/>
                <a:sym typeface="Space Grotesk"/>
              </a:rPr>
              <a:t>126</a:t>
            </a:r>
            <a:endParaRPr/>
          </a:p>
        </p:txBody>
      </p:sp>
      <p:sp>
        <p:nvSpPr>
          <p:cNvPr id="185" name="Google Shape;185;p17"/>
          <p:cNvSpPr txBox="1"/>
          <p:nvPr/>
        </p:nvSpPr>
        <p:spPr>
          <a:xfrm>
            <a:off x="6069806" y="4405312"/>
            <a:ext cx="569118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25.2% of Total Dataset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8"/>
          <p:cNvSpPr/>
          <p:nvPr/>
        </p:nvSpPr>
        <p:spPr>
          <a:xfrm>
            <a:off x="6267450" y="2562225"/>
            <a:ext cx="5314950" cy="1257300"/>
          </a:xfrm>
          <a:prstGeom prst="roundRect">
            <a:avLst>
              <a:gd name="adj" fmla="val 9090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6267450" y="4010025"/>
            <a:ext cx="5314950" cy="1257300"/>
          </a:xfrm>
          <a:prstGeom prst="roundRect">
            <a:avLst>
              <a:gd name="adj" fmla="val 9090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6267450" y="2562225"/>
            <a:ext cx="38100" cy="12573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6267450" y="4010025"/>
            <a:ext cx="38100" cy="12573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4" name="Google Shape;19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2105025"/>
            <a:ext cx="531495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INCIDENT VECTOR ANALYSIS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609600" y="704850"/>
            <a:ext cx="115824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Dominant Threat Types</a:t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6572250" y="2828925"/>
            <a:ext cx="561975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Malware Leadership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6572250" y="3152775"/>
            <a:ext cx="48387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185 incidents recorded. Primary vector across all target environments.</a:t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6572250" y="4276725"/>
            <a:ext cx="561975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Data Breach Dominance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6572250" y="4600575"/>
            <a:ext cx="48387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49 critical cases. Most frequent threat among highest-severity incidents.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9"/>
          <p:cNvSpPr/>
          <p:nvPr/>
        </p:nvSpPr>
        <p:spPr>
          <a:xfrm>
            <a:off x="609600" y="2681287"/>
            <a:ext cx="5334000" cy="2466975"/>
          </a:xfrm>
          <a:prstGeom prst="roundRect">
            <a:avLst>
              <a:gd name="adj" fmla="val 6177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/>
          <p:cNvSpPr/>
          <p:nvPr/>
        </p:nvSpPr>
        <p:spPr>
          <a:xfrm>
            <a:off x="6248400" y="2681287"/>
            <a:ext cx="5334000" cy="2466975"/>
          </a:xfrm>
          <a:prstGeom prst="roundRect">
            <a:avLst>
              <a:gd name="adj" fmla="val 6177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7" name="Google Shape;20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81337" y="3033712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01087" y="3033712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AUTHENTICATION TELEMETRY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609600" y="704850"/>
            <a:ext cx="115824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Authentication &amp; Access Log Patterns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2319337" y="3529012"/>
            <a:ext cx="2393156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DC2626"/>
                </a:solidFill>
                <a:latin typeface="Space Grotesk"/>
                <a:ea typeface="Space Grotesk"/>
                <a:cs typeface="Space Grotesk"/>
                <a:sym typeface="Space Grotesk"/>
              </a:rPr>
              <a:t>2,960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2271712" y="4329112"/>
            <a:ext cx="251221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Failed Login Attempts</a:t>
            </a:r>
            <a:endParaRPr/>
          </a:p>
        </p:txBody>
      </p:sp>
      <p:sp>
        <p:nvSpPr>
          <p:cNvPr id="213" name="Google Shape;213;p19"/>
          <p:cNvSpPr txBox="1"/>
          <p:nvPr/>
        </p:nvSpPr>
        <p:spPr>
          <a:xfrm>
            <a:off x="1881187" y="4595812"/>
            <a:ext cx="3488531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49.3% Authentication Failure Rate</a:t>
            </a:r>
            <a:endParaRPr/>
          </a:p>
        </p:txBody>
      </p:sp>
      <p:sp>
        <p:nvSpPr>
          <p:cNvPr id="214" name="Google Shape;214;p19"/>
          <p:cNvSpPr txBox="1"/>
          <p:nvPr/>
        </p:nvSpPr>
        <p:spPr>
          <a:xfrm>
            <a:off x="7943850" y="3529012"/>
            <a:ext cx="24288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059669"/>
                </a:solidFill>
                <a:latin typeface="Space Grotesk"/>
                <a:ea typeface="Space Grotesk"/>
                <a:cs typeface="Space Grotesk"/>
                <a:sym typeface="Space Grotesk"/>
              </a:rPr>
              <a:t>3,040</a:t>
            </a: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8072437" y="4329112"/>
            <a:ext cx="210740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Successful Logins</a:t>
            </a:r>
            <a:endParaRPr/>
          </a:p>
        </p:txBody>
      </p:sp>
      <p:sp>
        <p:nvSpPr>
          <p:cNvPr id="216" name="Google Shape;216;p19"/>
          <p:cNvSpPr txBox="1"/>
          <p:nvPr/>
        </p:nvSpPr>
        <p:spPr>
          <a:xfrm>
            <a:off x="7562850" y="4595812"/>
            <a:ext cx="33813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50.7% Legitimate Access Stream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0"/>
          <p:cNvSpPr/>
          <p:nvPr/>
        </p:nvSpPr>
        <p:spPr>
          <a:xfrm>
            <a:off x="609600" y="2776537"/>
            <a:ext cx="10972800" cy="22764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2" name="Google Shape;222;p20"/>
          <p:cNvGraphicFramePr/>
          <p:nvPr/>
        </p:nvGraphicFramePr>
        <p:xfrm>
          <a:off x="609600" y="27765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{CD617195-D155-41FC-BE05-7277FFED25D5}</a:tableStyleId>
              </a:tblPr>
              <a:tblGrid>
                <a:gridCol w="2454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2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3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43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9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Organization 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Industry Sector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Metric Priority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Recorded Count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ORG058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Healthcare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DC262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Critical Incidents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 Critical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ORG079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Finance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2563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Total Incident Volume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12 Total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ORG078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Enterprise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EA580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High-Severity Volume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 High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3" name="Google Shape;223;p2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ENTERPRISE EXPOSURE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609600" y="704850"/>
            <a:ext cx="115824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High-Risk Organization Profiling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1"/>
          <p:cNvSpPr/>
          <p:nvPr/>
        </p:nvSpPr>
        <p:spPr>
          <a:xfrm>
            <a:off x="609600" y="2562225"/>
            <a:ext cx="5314950" cy="1257300"/>
          </a:xfrm>
          <a:prstGeom prst="roundRect">
            <a:avLst>
              <a:gd name="adj" fmla="val 9090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609600" y="4010025"/>
            <a:ext cx="5314950" cy="1257300"/>
          </a:xfrm>
          <a:prstGeom prst="roundRect">
            <a:avLst>
              <a:gd name="adj" fmla="val 9090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609600" y="2562225"/>
            <a:ext cx="38100" cy="12573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609600" y="4010025"/>
            <a:ext cx="38100" cy="12573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3" name="Google Shape;23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67450" y="2105025"/>
            <a:ext cx="531495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INFRASTRUCTURE TELEMETRY</a:t>
            </a:r>
            <a:endParaRPr/>
          </a:p>
        </p:txBody>
      </p:sp>
      <p:sp>
        <p:nvSpPr>
          <p:cNvPr id="235" name="Google Shape;235;p21"/>
          <p:cNvSpPr txBox="1"/>
          <p:nvPr/>
        </p:nvSpPr>
        <p:spPr>
          <a:xfrm>
            <a:off x="609600" y="704850"/>
            <a:ext cx="115824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System Exposure &amp; OS Distribution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914400" y="2828925"/>
            <a:ext cx="6225778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Windows OS Prevalance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914400" y="3152775"/>
            <a:ext cx="48387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213 systems running Windows. Dominant operating system target.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914400" y="4276725"/>
            <a:ext cx="6225778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System S0031 Hotspot</a:t>
            </a:r>
            <a:endParaRPr/>
          </a:p>
        </p:txBody>
      </p:sp>
      <p:sp>
        <p:nvSpPr>
          <p:cNvPr id="239" name="Google Shape;239;p21"/>
          <p:cNvSpPr txBox="1"/>
          <p:nvPr/>
        </p:nvSpPr>
        <p:spPr>
          <a:xfrm>
            <a:off x="914400" y="4600575"/>
            <a:ext cx="48387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4 linked security breaches. Highest incident volume per asset.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2"/>
          <p:cNvSpPr/>
          <p:nvPr/>
        </p:nvSpPr>
        <p:spPr>
          <a:xfrm>
            <a:off x="609600" y="3386137"/>
            <a:ext cx="2571750" cy="1057275"/>
          </a:xfrm>
          <a:prstGeom prst="roundRect">
            <a:avLst>
              <a:gd name="adj" fmla="val 10810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2"/>
          <p:cNvSpPr/>
          <p:nvPr/>
        </p:nvSpPr>
        <p:spPr>
          <a:xfrm>
            <a:off x="3409950" y="3386137"/>
            <a:ext cx="2571750" cy="1057275"/>
          </a:xfrm>
          <a:prstGeom prst="roundRect">
            <a:avLst>
              <a:gd name="adj" fmla="val 10810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2"/>
          <p:cNvSpPr/>
          <p:nvPr/>
        </p:nvSpPr>
        <p:spPr>
          <a:xfrm>
            <a:off x="6210300" y="3386137"/>
            <a:ext cx="2571750" cy="1057275"/>
          </a:xfrm>
          <a:prstGeom prst="roundRect">
            <a:avLst>
              <a:gd name="adj" fmla="val 10810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2"/>
          <p:cNvSpPr/>
          <p:nvPr/>
        </p:nvSpPr>
        <p:spPr>
          <a:xfrm>
            <a:off x="9010650" y="3386137"/>
            <a:ext cx="2571750" cy="1057275"/>
          </a:xfrm>
          <a:prstGeom prst="roundRect">
            <a:avLst>
              <a:gd name="adj" fmla="val 10810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TARGET MATRIX</a:t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609600" y="704850"/>
            <a:ext cx="115824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High-Priority Risk Hotspots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885825" y="3662362"/>
            <a:ext cx="265033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ORG018 (Tech)</a:t>
            </a:r>
            <a:endParaRPr/>
          </a:p>
        </p:txBody>
      </p:sp>
      <p:sp>
        <p:nvSpPr>
          <p:cNvPr id="251" name="Google Shape;251;p22"/>
          <p:cNvSpPr txBox="1"/>
          <p:nvPr/>
        </p:nvSpPr>
        <p:spPr>
          <a:xfrm>
            <a:off x="885825" y="3967162"/>
            <a:ext cx="25241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49 Failed Logins</a:t>
            </a:r>
            <a:endParaRPr/>
          </a:p>
        </p:txBody>
      </p:sp>
      <p:sp>
        <p:nvSpPr>
          <p:cNvPr id="252" name="Google Shape;252;p22"/>
          <p:cNvSpPr txBox="1"/>
          <p:nvPr/>
        </p:nvSpPr>
        <p:spPr>
          <a:xfrm>
            <a:off x="3686175" y="3662362"/>
            <a:ext cx="265033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ORG057 (Finance)</a:t>
            </a:r>
            <a:endParaRPr/>
          </a:p>
        </p:txBody>
      </p:sp>
      <p:sp>
        <p:nvSpPr>
          <p:cNvPr id="253" name="Google Shape;253;p22"/>
          <p:cNvSpPr txBox="1"/>
          <p:nvPr/>
        </p:nvSpPr>
        <p:spPr>
          <a:xfrm>
            <a:off x="3686175" y="3967162"/>
            <a:ext cx="25241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96 Network Events</a:t>
            </a:r>
            <a:endParaRPr/>
          </a:p>
        </p:txBody>
      </p:sp>
      <p:sp>
        <p:nvSpPr>
          <p:cNvPr id="254" name="Google Shape;254;p22"/>
          <p:cNvSpPr txBox="1"/>
          <p:nvPr/>
        </p:nvSpPr>
        <p:spPr>
          <a:xfrm>
            <a:off x="6486525" y="3662362"/>
            <a:ext cx="265033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System S0005</a:t>
            </a:r>
            <a:endParaRPr/>
          </a:p>
        </p:txBody>
      </p:sp>
      <p:sp>
        <p:nvSpPr>
          <p:cNvPr id="255" name="Google Shape;255;p22"/>
          <p:cNvSpPr txBox="1"/>
          <p:nvPr/>
        </p:nvSpPr>
        <p:spPr>
          <a:xfrm>
            <a:off x="6486525" y="3967162"/>
            <a:ext cx="25241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17 Network Events</a:t>
            </a:r>
            <a:endParaRPr/>
          </a:p>
        </p:txBody>
      </p:sp>
      <p:sp>
        <p:nvSpPr>
          <p:cNvPr id="256" name="Google Shape;256;p22"/>
          <p:cNvSpPr txBox="1"/>
          <p:nvPr/>
        </p:nvSpPr>
        <p:spPr>
          <a:xfrm>
            <a:off x="9286875" y="3662362"/>
            <a:ext cx="265033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ORG058 (Health)</a:t>
            </a:r>
            <a:endParaRPr/>
          </a:p>
        </p:txBody>
      </p:sp>
      <p:sp>
        <p:nvSpPr>
          <p:cNvPr id="257" name="Google Shape;257;p22"/>
          <p:cNvSpPr txBox="1"/>
          <p:nvPr/>
        </p:nvSpPr>
        <p:spPr>
          <a:xfrm>
            <a:off x="9286875" y="3967162"/>
            <a:ext cx="25241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5 Critical Incidents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3"/>
          <p:cNvSpPr/>
          <p:nvPr/>
        </p:nvSpPr>
        <p:spPr>
          <a:xfrm>
            <a:off x="6267450" y="2109787"/>
            <a:ext cx="5314950" cy="1143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3"/>
          <p:cNvSpPr/>
          <p:nvPr/>
        </p:nvSpPr>
        <p:spPr>
          <a:xfrm>
            <a:off x="6267450" y="3443287"/>
            <a:ext cx="5314950" cy="1143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3"/>
          <p:cNvSpPr/>
          <p:nvPr/>
        </p:nvSpPr>
        <p:spPr>
          <a:xfrm>
            <a:off x="6267450" y="4776787"/>
            <a:ext cx="5314950" cy="942975"/>
          </a:xfrm>
          <a:prstGeom prst="roundRect">
            <a:avLst>
              <a:gd name="adj" fmla="val 12121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3"/>
          <p:cNvSpPr/>
          <p:nvPr/>
        </p:nvSpPr>
        <p:spPr>
          <a:xfrm>
            <a:off x="6267450" y="2109787"/>
            <a:ext cx="38100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3"/>
          <p:cNvSpPr/>
          <p:nvPr/>
        </p:nvSpPr>
        <p:spPr>
          <a:xfrm>
            <a:off x="6267450" y="3443287"/>
            <a:ext cx="38100" cy="1143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3"/>
          <p:cNvSpPr/>
          <p:nvPr/>
        </p:nvSpPr>
        <p:spPr>
          <a:xfrm>
            <a:off x="6267450" y="4776787"/>
            <a:ext cx="38100" cy="942975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8" name="Google Shape;26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2105025"/>
            <a:ext cx="25812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MITIGATION PLAN</a:t>
            </a:r>
            <a:endParaRPr/>
          </a:p>
        </p:txBody>
      </p:sp>
      <p:sp>
        <p:nvSpPr>
          <p:cNvPr id="270" name="Google Shape;270;p23"/>
          <p:cNvSpPr txBox="1"/>
          <p:nvPr/>
        </p:nvSpPr>
        <p:spPr>
          <a:xfrm>
            <a:off x="609600" y="704850"/>
            <a:ext cx="115824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Strategic Security Roadmap</a:t>
            </a:r>
            <a:endParaRPr/>
          </a:p>
        </p:txBody>
      </p:sp>
      <p:sp>
        <p:nvSpPr>
          <p:cNvPr id="271" name="Google Shape;271;p23"/>
          <p:cNvSpPr txBox="1"/>
          <p:nvPr/>
        </p:nvSpPr>
        <p:spPr>
          <a:xfrm>
            <a:off x="6534150" y="2338387"/>
            <a:ext cx="56578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Endpoint &amp; Windows Protection</a:t>
            </a:r>
            <a:endParaRPr/>
          </a:p>
        </p:txBody>
      </p:sp>
      <p:sp>
        <p:nvSpPr>
          <p:cNvPr id="272" name="Google Shape;272;p23"/>
          <p:cNvSpPr txBox="1"/>
          <p:nvPr/>
        </p:nvSpPr>
        <p:spPr>
          <a:xfrm>
            <a:off x="6534150" y="2624137"/>
            <a:ext cx="49149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Deploy EDR and patch management for 213 Windows hosts.</a:t>
            </a:r>
            <a:endParaRPr/>
          </a:p>
        </p:txBody>
      </p:sp>
      <p:sp>
        <p:nvSpPr>
          <p:cNvPr id="273" name="Google Shape;273;p23"/>
          <p:cNvSpPr txBox="1"/>
          <p:nvPr/>
        </p:nvSpPr>
        <p:spPr>
          <a:xfrm>
            <a:off x="6534150" y="3671887"/>
            <a:ext cx="56578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Authentication Hardening</a:t>
            </a:r>
            <a:endParaRPr/>
          </a:p>
        </p:txBody>
      </p:sp>
      <p:sp>
        <p:nvSpPr>
          <p:cNvPr id="274" name="Google Shape;274;p23"/>
          <p:cNvSpPr txBox="1"/>
          <p:nvPr/>
        </p:nvSpPr>
        <p:spPr>
          <a:xfrm>
            <a:off x="6534150" y="3957637"/>
            <a:ext cx="49149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Enforce MFA and lockout rules to address 2,960 failed logins.</a:t>
            </a:r>
            <a:endParaRPr/>
          </a:p>
        </p:txBody>
      </p:sp>
      <p:sp>
        <p:nvSpPr>
          <p:cNvPr id="275" name="Google Shape;275;p23"/>
          <p:cNvSpPr txBox="1"/>
          <p:nvPr/>
        </p:nvSpPr>
        <p:spPr>
          <a:xfrm>
            <a:off x="6534150" y="5005387"/>
            <a:ext cx="56578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Targeted Entity Audits</a:t>
            </a:r>
            <a:endParaRPr/>
          </a:p>
        </p:txBody>
      </p:sp>
      <p:sp>
        <p:nvSpPr>
          <p:cNvPr id="276" name="Google Shape;276;p23"/>
          <p:cNvSpPr txBox="1"/>
          <p:nvPr/>
        </p:nvSpPr>
        <p:spPr>
          <a:xfrm>
            <a:off x="6534150" y="5291137"/>
            <a:ext cx="56578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Prioritize security audits for ORG058, ORG079, and S0031.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4"/>
          <p:cNvSpPr/>
          <p:nvPr/>
        </p:nvSpPr>
        <p:spPr>
          <a:xfrm>
            <a:off x="4291012" y="4476750"/>
            <a:ext cx="3609975" cy="51435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2" name="Google Shape;282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67400" y="18669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05337" y="4648200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4"/>
          <p:cNvSpPr txBox="1"/>
          <p:nvPr/>
        </p:nvSpPr>
        <p:spPr>
          <a:xfrm>
            <a:off x="1095375" y="2552700"/>
            <a:ext cx="100012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Data-Driven Security Decision Making</a:t>
            </a:r>
            <a:endParaRPr/>
          </a:p>
        </p:txBody>
      </p:sp>
      <p:sp>
        <p:nvSpPr>
          <p:cNvPr id="285" name="Google Shape;285;p24"/>
          <p:cNvSpPr txBox="1"/>
          <p:nvPr/>
        </p:nvSpPr>
        <p:spPr>
          <a:xfrm>
            <a:off x="2047875" y="3238500"/>
            <a:ext cx="80962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SQL queries transform raw telemetry logs into actionable risk intelligence to guide SOC investigation and defensive resource allocation.</a:t>
            </a:r>
            <a:endParaRPr/>
          </a:p>
        </p:txBody>
      </p:sp>
      <p:sp>
        <p:nvSpPr>
          <p:cNvPr id="286" name="Google Shape;286;p24"/>
          <p:cNvSpPr txBox="1"/>
          <p:nvPr/>
        </p:nvSpPr>
        <p:spPr>
          <a:xfrm>
            <a:off x="4554140" y="4638675"/>
            <a:ext cx="3369468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Cybersecurity Risk Analysis Finished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5"/>
          <p:cNvSpPr/>
          <p:nvPr/>
        </p:nvSpPr>
        <p:spPr>
          <a:xfrm>
            <a:off x="571500" y="84772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5"/>
          <p:cNvSpPr/>
          <p:nvPr/>
        </p:nvSpPr>
        <p:spPr>
          <a:xfrm>
            <a:off x="571500" y="1619250"/>
            <a:ext cx="11049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5"/>
          <p:cNvSpPr/>
          <p:nvPr/>
        </p:nvSpPr>
        <p:spPr>
          <a:xfrm>
            <a:off x="571500" y="1609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5"/>
          <p:cNvSpPr/>
          <p:nvPr/>
        </p:nvSpPr>
        <p:spPr>
          <a:xfrm>
            <a:off x="571500" y="1609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5"/>
          <p:cNvSpPr/>
          <p:nvPr/>
        </p:nvSpPr>
        <p:spPr>
          <a:xfrm>
            <a:off x="571500" y="24479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5"/>
          <p:cNvSpPr/>
          <p:nvPr/>
        </p:nvSpPr>
        <p:spPr>
          <a:xfrm>
            <a:off x="571500" y="24479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7" name="Google Shape;297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990600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95462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6336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5"/>
          <p:cNvSpPr txBox="1"/>
          <p:nvPr/>
        </p:nvSpPr>
        <p:spPr>
          <a:xfrm>
            <a:off x="571500" y="571500"/>
            <a:ext cx="217527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Image Sources</a:t>
            </a:r>
            <a:endParaRPr/>
          </a:p>
        </p:txBody>
      </p:sp>
      <p:sp>
        <p:nvSpPr>
          <p:cNvPr id="301" name="Google Shape;301;p25"/>
          <p:cNvSpPr txBox="1"/>
          <p:nvPr/>
        </p:nvSpPr>
        <p:spPr>
          <a:xfrm>
            <a:off x="1666875" y="1033462"/>
            <a:ext cx="9536906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https://media.easy-peasy.ai/8379b816-f758-456a-a27f-fd42fbb564a6/8f22654d-e959-4002-89e5-33a9f0eaa3fd_medium.webp</a:t>
            </a:r>
            <a:endParaRPr/>
          </a:p>
        </p:txBody>
      </p:sp>
      <p:sp>
        <p:nvSpPr>
          <p:cNvPr id="302" name="Google Shape;302;p25"/>
          <p:cNvSpPr txBox="1"/>
          <p:nvPr/>
        </p:nvSpPr>
        <p:spPr>
          <a:xfrm>
            <a:off x="1666875" y="1233487"/>
            <a:ext cx="1976437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easy-peasy.ai</a:t>
            </a:r>
            <a:endParaRPr/>
          </a:p>
        </p:txBody>
      </p:sp>
      <p:sp>
        <p:nvSpPr>
          <p:cNvPr id="303" name="Google Shape;303;p25"/>
          <p:cNvSpPr txBox="1"/>
          <p:nvPr/>
        </p:nvSpPr>
        <p:spPr>
          <a:xfrm>
            <a:off x="1666875" y="1762125"/>
            <a:ext cx="10048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https://res.cloudinary.com/dlysgt3ss/images/c_scale,w_448,h_299,dpr_2/f_auto,q_auto/v1781261323/ChatGPT-Image-Jun-12-2026-04_18_13-PM/ChatGPT-Image-Jun-12-2026-04_18_13-PM.png?_i=AA</a:t>
            </a:r>
            <a:endParaRPr/>
          </a:p>
        </p:txBody>
      </p:sp>
      <p:sp>
        <p:nvSpPr>
          <p:cNvPr id="304" name="Google Shape;304;p25"/>
          <p:cNvSpPr txBox="1"/>
          <p:nvPr/>
        </p:nvSpPr>
        <p:spPr>
          <a:xfrm>
            <a:off x="1666875" y="2114550"/>
            <a:ext cx="2059781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mtsinfonet.org</a:t>
            </a:r>
            <a:endParaRPr/>
          </a:p>
        </p:txBody>
      </p:sp>
      <p:sp>
        <p:nvSpPr>
          <p:cNvPr id="305" name="Google Shape;305;p25"/>
          <p:cNvSpPr txBox="1"/>
          <p:nvPr/>
        </p:nvSpPr>
        <p:spPr>
          <a:xfrm>
            <a:off x="1666875" y="2600325"/>
            <a:ext cx="10048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https://www.obrela.com/hs-fs/hubfs/Imported_Blog_Media/What-is-a-SOC-in-cyber-security-1024x536-1.jpg?width=640&amp;height=335&amp;name=What-is-a-SOC-in-cyber-security-1024x536-1.jpg</a:t>
            </a:r>
            <a:endParaRPr/>
          </a:p>
        </p:txBody>
      </p:sp>
      <p:sp>
        <p:nvSpPr>
          <p:cNvPr id="306" name="Google Shape;306;p25"/>
          <p:cNvSpPr txBox="1"/>
          <p:nvPr/>
        </p:nvSpPr>
        <p:spPr>
          <a:xfrm>
            <a:off x="1666875" y="2952750"/>
            <a:ext cx="2286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www.obrela.com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568</Words>
  <Application>Microsoft Office PowerPoint</Application>
  <PresentationFormat>Widescreen</PresentationFormat>
  <Paragraphs>116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Space Grotesk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priyanka</dc:creator>
  <cp:lastModifiedBy>Priyanka Kumari</cp:lastModifiedBy>
  <cp:revision>1</cp:revision>
  <dcterms:modified xsi:type="dcterms:W3CDTF">2026-10-05T05:48:09Z</dcterms:modified>
</cp:coreProperties>
</file>